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529" r:id="rId2"/>
    <p:sldId id="550" r:id="rId3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117135" initials="a" lastIdx="20" clrIdx="0">
    <p:extLst>
      <p:ext uri="{19B8F6BF-5375-455C-9EA6-DF929625EA0E}">
        <p15:presenceInfo xmlns:p15="http://schemas.microsoft.com/office/powerpoint/2012/main" userId="ak1171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BB"/>
    <a:srgbClr val="2D2D2D"/>
    <a:srgbClr val="1E1E1E"/>
    <a:srgbClr val="F5F5F5"/>
    <a:srgbClr val="0078AA"/>
    <a:srgbClr val="3366FF"/>
    <a:srgbClr val="007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2" autoAdjust="0"/>
    <p:restoredTop sz="46880" autoAdjust="0"/>
  </p:normalViewPr>
  <p:slideViewPr>
    <p:cSldViewPr snapToGrid="0">
      <p:cViewPr varScale="1">
        <p:scale>
          <a:sx n="71" d="100"/>
          <a:sy n="71" d="100"/>
        </p:scale>
        <p:origin x="3450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02.10.2026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02.10.2026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Optional: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Build oscillator core with CMOS and HBT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Compare phase noise of CMOS and HBT versions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GSG pads for wafer probers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2A079-E7F8-4A78-8EEA-DD00A8D5DE37}" type="slidenum">
              <a:rPr lang="de-AT" smtClean="0"/>
              <a:t>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8741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5B380-693F-1D6B-EA30-25107455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B54A8-95FF-D6E5-1298-7FB13A247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8BCC4-F575-497F-ECA9-51597E97A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4439F-9FCA-56D6-B3D4-7BCAED4CA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2A079-E7F8-4A78-8EEA-DD00A8D5DE3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3762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708" y="556101"/>
            <a:ext cx="1929267" cy="1365970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farbig">
    <p:bg>
      <p:bgPr>
        <a:solidFill>
          <a:srgbClr val="0078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903A8CB-8A9D-6078-1542-8157907914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1174" y="2210753"/>
            <a:ext cx="2160000" cy="97933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6FE3C5D-F645-C0ED-019A-5B0F709F9A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1174" y="4033527"/>
            <a:ext cx="2880000" cy="62526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770409D-2A14-1C61-A33F-1D6FEF6359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2060" y="581834"/>
            <a:ext cx="1719114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rgbClr val="007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Titel.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mit.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Imagebild.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Text.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Formeln.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Video.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Tabellen.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92758D9-9F64-53DF-6314-1CDB38E28A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8800" y="6350400"/>
            <a:ext cx="2361600" cy="27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2" r:id="rId4"/>
    <p:sldLayoutId id="2147483669" r:id="rId5"/>
    <p:sldLayoutId id="2147483670" r:id="rId6"/>
    <p:sldLayoutId id="2147483666" r:id="rId7"/>
    <p:sldLayoutId id="2147483677" r:id="rId8"/>
    <p:sldLayoutId id="2147483662" r:id="rId9"/>
    <p:sldLayoutId id="2147483664" r:id="rId10"/>
    <p:sldLayoutId id="2147483671" r:id="rId11"/>
    <p:sldLayoutId id="2147483672" r:id="rId12"/>
    <p:sldLayoutId id="2147483673" r:id="rId13"/>
    <p:sldLayoutId id="2147483675" r:id="rId14"/>
    <p:sldLayoutId id="2147483674" r:id="rId15"/>
    <p:sldLayoutId id="2147483678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F914E-6153-DA83-9516-474EDD34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ED4CE3-64D9-5739-79DF-68E7A6BC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21" y="338633"/>
            <a:ext cx="5887553" cy="594302"/>
          </a:xfrm>
        </p:spPr>
        <p:txBody>
          <a:bodyPr/>
          <a:lstStyle/>
          <a:p>
            <a:r>
              <a:rPr lang="af-ZA" sz="3600" dirty="0"/>
              <a:t>RFIC Tutorial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6D7C1-218D-8177-1539-89EC316ABEC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2C47B-BE67-6C3E-A4F1-A58867ED882F}"/>
              </a:ext>
            </a:extLst>
          </p:cNvPr>
          <p:cNvSpPr txBox="1"/>
          <p:nvPr/>
        </p:nvSpPr>
        <p:spPr>
          <a:xfrm>
            <a:off x="591223" y="1108687"/>
            <a:ext cx="109435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ym typeface="Wingdings" panose="05000000000000000000" pitchFamily="2" charset="2"/>
              </a:rPr>
              <a:t>Extend</a:t>
            </a:r>
            <a:r>
              <a:rPr lang="en-GB" sz="2400" dirty="0">
                <a:sym typeface="Wingdings" panose="05000000000000000000" pitchFamily="2" charset="2"/>
              </a:rPr>
              <a:t> existing AMS template &amp; tutorial (see </a:t>
            </a:r>
            <a:r>
              <a:rPr lang="en-GB" sz="2400" i="1" dirty="0">
                <a:sym typeface="Wingdings" panose="05000000000000000000" pitchFamily="2" charset="2"/>
              </a:rPr>
              <a:t>add-rf-macro</a:t>
            </a:r>
            <a:r>
              <a:rPr lang="en-GB" sz="2400" dirty="0">
                <a:sym typeface="Wingdings" panose="05000000000000000000" pitchFamily="2" charset="2"/>
              </a:rPr>
              <a:t> branch)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ym typeface="Wingdings" panose="05000000000000000000" pitchFamily="2" charset="2"/>
              </a:rPr>
              <a:t>Demonstration</a:t>
            </a:r>
            <a:r>
              <a:rPr lang="en-GB" sz="2400" dirty="0">
                <a:sym typeface="Wingdings" panose="05000000000000000000" pitchFamily="2" charset="2"/>
              </a:rPr>
              <a:t> with an </a:t>
            </a:r>
            <a:r>
              <a:rPr lang="en-GB" sz="2400" b="1" dirty="0">
                <a:sym typeface="Wingdings" panose="05000000000000000000" pitchFamily="2" charset="2"/>
              </a:rPr>
              <a:t>RF VCO </a:t>
            </a:r>
            <a:r>
              <a:rPr lang="en-GB" sz="2400" dirty="0">
                <a:sym typeface="Wingdings" panose="05000000000000000000" pitchFamily="2" charset="2"/>
              </a:rPr>
              <a:t>macro: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Oscillator core &amp; varactor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Bias block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Buffer output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ym typeface="Wingdings" panose="05000000000000000000" pitchFamily="2" charset="2"/>
              </a:rPr>
              <a:t>Content: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Layout generation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sym typeface="Wingdings" panose="05000000000000000000" pitchFamily="2" charset="2"/>
              </a:rPr>
              <a:t>Manual hand drawing in </a:t>
            </a:r>
            <a:r>
              <a:rPr lang="en-GB" sz="2400" i="1" dirty="0" err="1">
                <a:sym typeface="Wingdings" panose="05000000000000000000" pitchFamily="2" charset="2"/>
              </a:rPr>
              <a:t>Klayout</a:t>
            </a:r>
            <a:endParaRPr lang="en-GB" sz="2400" i="1" dirty="0">
              <a:sym typeface="Wingdings" panose="05000000000000000000" pitchFamily="2" charset="2"/>
            </a:endParaRP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sym typeface="Wingdings" panose="05000000000000000000" pitchFamily="2" charset="2"/>
              </a:rPr>
              <a:t>Programmatic using </a:t>
            </a:r>
            <a:r>
              <a:rPr lang="en-GB" sz="2400" i="1" dirty="0" err="1">
                <a:sym typeface="Wingdings" panose="05000000000000000000" pitchFamily="2" charset="2"/>
              </a:rPr>
              <a:t>GDSFactory</a:t>
            </a:r>
            <a:endParaRPr lang="en-GB" sz="2400" i="1" dirty="0">
              <a:sym typeface="Wingdings" panose="05000000000000000000" pitchFamily="2" charset="2"/>
            </a:endParaRP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sym typeface="Wingdings" panose="05000000000000000000" pitchFamily="2" charset="2"/>
              </a:rPr>
              <a:t>AI-driven </a:t>
            </a:r>
            <a:r>
              <a:rPr lang="en-GB" sz="2400" i="1" dirty="0" err="1">
                <a:sym typeface="Wingdings" panose="05000000000000000000" pitchFamily="2" charset="2"/>
              </a:rPr>
              <a:t>KLayout</a:t>
            </a:r>
            <a:r>
              <a:rPr lang="en-GB" sz="2400" dirty="0">
                <a:sym typeface="Wingdings" panose="05000000000000000000" pitchFamily="2" charset="2"/>
              </a:rPr>
              <a:t> Python scripts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169FFD-0AF4-8C76-0A7A-917E520F9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9897" y="130191"/>
            <a:ext cx="1783669" cy="178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2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23F1-B0D6-C33A-2B00-6B3E6A81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002142-1FA8-E146-179A-F61DD9A6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21" y="338633"/>
            <a:ext cx="11124204" cy="594302"/>
          </a:xfrm>
        </p:spPr>
        <p:txBody>
          <a:bodyPr/>
          <a:lstStyle/>
          <a:p>
            <a:r>
              <a:rPr lang="af-ZA" sz="3600" dirty="0"/>
              <a:t>RFIC Tutorial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945066-96DA-6D2B-F6F4-0066E04E5C7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AA4CC-3BA1-CAB0-5EEB-EC7C85D4BB6F}"/>
              </a:ext>
            </a:extLst>
          </p:cNvPr>
          <p:cNvSpPr txBox="1"/>
          <p:nvPr/>
        </p:nvSpPr>
        <p:spPr>
          <a:xfrm>
            <a:off x="591223" y="1108687"/>
            <a:ext cx="109435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b="1" dirty="0">
                <a:sym typeface="Wingdings" panose="05000000000000000000" pitchFamily="2" charset="2"/>
              </a:rPr>
              <a:t>Content: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DRC, LVS and PEX using </a:t>
            </a:r>
            <a:r>
              <a:rPr lang="en-GB" sz="2400" i="1" dirty="0" err="1">
                <a:sym typeface="Wingdings" panose="05000000000000000000" pitchFamily="2" charset="2"/>
              </a:rPr>
              <a:t>KLayout</a:t>
            </a:r>
            <a:r>
              <a:rPr lang="en-GB" sz="2400" dirty="0">
                <a:sym typeface="Wingdings" panose="05000000000000000000" pitchFamily="2" charset="2"/>
              </a:rPr>
              <a:t> and </a:t>
            </a:r>
            <a:r>
              <a:rPr lang="en-GB" sz="2400" i="1" dirty="0" err="1">
                <a:sym typeface="Wingdings" panose="05000000000000000000" pitchFamily="2" charset="2"/>
              </a:rPr>
              <a:t>Magic</a:t>
            </a:r>
            <a:r>
              <a:rPr lang="en-GB" sz="2400" dirty="0" err="1">
                <a:sym typeface="Wingdings" panose="05000000000000000000" pitchFamily="2" charset="2"/>
              </a:rPr>
              <a:t>+</a:t>
            </a:r>
            <a:r>
              <a:rPr lang="en-GB" sz="2400" i="1" dirty="0" err="1">
                <a:sym typeface="Wingdings" panose="05000000000000000000" pitchFamily="2" charset="2"/>
              </a:rPr>
              <a:t>Netgen</a:t>
            </a:r>
            <a:endParaRPr lang="en-GB" sz="2400" i="1" dirty="0">
              <a:sym typeface="Wingdings" panose="05000000000000000000" pitchFamily="2" charset="2"/>
            </a:endParaRP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EM simulation using </a:t>
            </a:r>
            <a:r>
              <a:rPr lang="en-GB" sz="2400" i="1" dirty="0">
                <a:sym typeface="Wingdings" panose="05000000000000000000" pitchFamily="2" charset="2"/>
              </a:rPr>
              <a:t>AWS Palace </a:t>
            </a:r>
            <a:r>
              <a:rPr lang="en-GB" sz="2400" dirty="0">
                <a:sym typeface="Wingdings" panose="05000000000000000000" pitchFamily="2" charset="2"/>
              </a:rPr>
              <a:t>and </a:t>
            </a:r>
            <a:r>
              <a:rPr lang="en-GB" sz="2400" i="1" dirty="0">
                <a:sym typeface="Wingdings" panose="05000000000000000000" pitchFamily="2" charset="2"/>
              </a:rPr>
              <a:t>gds2palace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Lumped-element netlist generation using </a:t>
            </a:r>
            <a:r>
              <a:rPr lang="en-GB" sz="2400" i="1" dirty="0">
                <a:sym typeface="Wingdings" panose="05000000000000000000" pitchFamily="2" charset="2"/>
              </a:rPr>
              <a:t>snp2le</a:t>
            </a:r>
            <a:endParaRPr lang="en-GB" sz="2400" dirty="0">
              <a:sym typeface="Wingdings" panose="05000000000000000000" pitchFamily="2" charset="2"/>
            </a:endParaRP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Circuit-level simulation using </a:t>
            </a:r>
            <a:r>
              <a:rPr lang="en-GB" sz="2400" i="1" dirty="0" err="1">
                <a:sym typeface="Wingdings" panose="05000000000000000000" pitchFamily="2" charset="2"/>
              </a:rPr>
              <a:t>Xschem</a:t>
            </a:r>
            <a:r>
              <a:rPr lang="en-GB" sz="2400" dirty="0">
                <a:sym typeface="Wingdings" panose="05000000000000000000" pitchFamily="2" charset="2"/>
              </a:rPr>
              <a:t> &amp; </a:t>
            </a:r>
            <a:r>
              <a:rPr lang="en-GB" sz="2400" i="1" dirty="0">
                <a:sym typeface="Wingdings" panose="05000000000000000000" pitchFamily="2" charset="2"/>
              </a:rPr>
              <a:t>VACASK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ym typeface="Wingdings" panose="05000000000000000000" pitchFamily="2" charset="2"/>
              </a:rPr>
              <a:t>Focus on </a:t>
            </a:r>
            <a:r>
              <a:rPr lang="en-GB" sz="2400" b="1" dirty="0">
                <a:sym typeface="Wingdings" panose="05000000000000000000" pitchFamily="2" charset="2"/>
              </a:rPr>
              <a:t>advanced</a:t>
            </a:r>
            <a:r>
              <a:rPr lang="en-GB" sz="2400" dirty="0">
                <a:sym typeface="Wingdings" panose="05000000000000000000" pitchFamily="2" charset="2"/>
              </a:rPr>
              <a:t> simulation types: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sym typeface="Wingdings" panose="05000000000000000000" pitchFamily="2" charset="2"/>
              </a:rPr>
              <a:t>ACSP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sym typeface="Wingdings" panose="05000000000000000000" pitchFamily="2" charset="2"/>
              </a:rPr>
              <a:t>Transient noise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sym typeface="Wingdings" panose="05000000000000000000" pitchFamily="2" charset="2"/>
              </a:rPr>
              <a:t>HB, HBAC, HBNOISE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sym typeface="Wingdings" panose="05000000000000000000" pitchFamily="2" charset="2"/>
              </a:rPr>
              <a:t>PSS, PAC, PNOISE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F827967-A360-82C1-C195-641EAA6F0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9897" y="130191"/>
            <a:ext cx="1783669" cy="178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1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KU_SoWi_Praesentation_DE_16_9_2021_02" id="{935EC412-548F-495B-9270-73F0372A3669}" vid="{D610FC8B-B5FA-487B-BF2E-352F010C8F7B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60794F-5AEF-438D-85C6-B4CED22DBC1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d3c9da8-91d8-42d2-aac6-61c67995db0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JKU_SoWi_Praesentation_DE_16_9_2021_02</Template>
  <TotalTime>3885</TotalTime>
  <Words>122</Words>
  <Application>Microsoft Office PowerPoint</Application>
  <PresentationFormat>Widescreen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Arial Black</vt:lpstr>
      <vt:lpstr>Wingdings</vt:lpstr>
      <vt:lpstr>Wingdings 2</vt:lpstr>
      <vt:lpstr>Office</vt:lpstr>
      <vt:lpstr>RFIC Tutorial</vt:lpstr>
      <vt:lpstr>RFIC Tutorial</vt:lpstr>
    </vt:vector>
  </TitlesOfParts>
  <Company>JKU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AK117135</dc:creator>
  <cp:lastModifiedBy>Dorrer Simon</cp:lastModifiedBy>
  <cp:revision>1631</cp:revision>
  <cp:lastPrinted>2015-10-19T12:36:16Z</cp:lastPrinted>
  <dcterms:created xsi:type="dcterms:W3CDTF">2021-02-19T07:49:17Z</dcterms:created>
  <dcterms:modified xsi:type="dcterms:W3CDTF">2026-10-02T11:18:51Z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mpower.integration.Classification.DocumentId">
    <vt:lpwstr/>
  </property>
  <property fmtid="{D5CDD505-2E9C-101B-9397-08002B2CF9AE}" pid="3" name="empower.integration.Classification.DocumentVersion">
    <vt:lpwstr/>
  </property>
  <property fmtid="{D5CDD505-2E9C-101B-9397-08002B2CF9AE}" pid="4" name="empower.integration.Classification.DocumentOwner">
    <vt:lpwstr/>
  </property>
  <property fmtid="{D5CDD505-2E9C-101B-9397-08002B2CF9AE}" pid="5" name="empower.integration.Classification.ShowFooter">
    <vt:bool>true</vt:bool>
  </property>
  <property fmtid="{D5CDD505-2E9C-101B-9397-08002B2CF9AE}" pid="6" name="empower.integration.Classification.RestrictionLevel">
    <vt:i4>-1</vt:i4>
  </property>
  <property fmtid="{D5CDD505-2E9C-101B-9397-08002B2CF9AE}" pid="7" name="empower.integration.Classification.FooterDate">
    <vt:filetime>2023-05-18T16:57:15Z</vt:filetime>
  </property>
  <property fmtid="{D5CDD505-2E9C-101B-9397-08002B2CF9AE}" pid="8" name="empower.integration.Classification.DateFormat">
    <vt:lpwstr/>
  </property>
  <property fmtid="{D5CDD505-2E9C-101B-9397-08002B2CF9AE}" pid="9" name="empower.integration.Classification.IsDraft">
    <vt:bool>false</vt:bool>
  </property>
  <property fmtid="{D5CDD505-2E9C-101B-9397-08002B2CF9AE}" pid="10" name="empower.integration.Classification.IsProprietary">
    <vt:bool>false</vt:bool>
  </property>
  <property fmtid="{D5CDD505-2E9C-101B-9397-08002B2CF9AE}" pid="11" name="empower.integration.Classification.HasAdditionalMarking">
    <vt:bool>false</vt:bool>
  </property>
  <property fmtid="{D5CDD505-2E9C-101B-9397-08002B2CF9AE}" pid="12" name="empower.integration.Classification.AdditionalMarking">
    <vt:lpwstr/>
  </property>
  <property fmtid="{D5CDD505-2E9C-101B-9397-08002B2CF9AE}" pid="13" name="empower.integration.Classification.IsEmpowerClassified">
    <vt:bool>false</vt:bool>
  </property>
</Properties>
</file>